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657600" cy="3657600"/>
          </a:xfrm>
          <a:prstGeom prst="ellipse">
            <a:avLst/>
          </a:prstGeom>
          <a:ln w="15875">
            <a:solidFill>
              <a:srgbClr val="D4AF3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47120" y="-548640"/>
            <a:ext cx="2377440" cy="2377440"/>
          </a:xfrm>
          <a:prstGeom prst="ellipse">
            <a:avLst/>
          </a:prstGeom>
          <a:ln w="12700">
            <a:solidFill>
              <a:srgbClr val="D4AF37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ln w="15875">
            <a:solidFill>
              <a:srgbClr val="D4AF3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5577840"/>
            <a:ext cx="2011680" cy="2011680"/>
          </a:xfrm>
          <a:prstGeom prst="ellipse">
            <a:avLst/>
          </a:prstGeom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063240"/>
            <a:ext cx="20116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9875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FINTRACKER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PERSONAL FINANCE &amp; EXPENSE MANAGEMENT SYSTEM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(A cloud-native monthly budget &amp; savings tracker)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35040" y="4846320"/>
            <a:ext cx="5212080" cy="32004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</a:t>
            </a:r>
            <a:br>
              <a:rPr 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IN" alt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MEKA  NEHA LATHA</a:t>
            </a:r>
            <a:br>
              <a:rPr lang="en-IN" alt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IN" alt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MANNAVA YUVA RAM</a:t>
            </a:r>
            <a:br>
              <a:rPr lang="en-IN" alt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alt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lang="en-IN" alt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ULUGU PAVANA PRANATHI</a:t>
            </a:r>
            <a:br>
              <a:rPr lang="en-IN" alt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IN" alt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BONTHADA BHAVANA</a:t>
            </a:r>
            <a:br>
              <a:rPr lang="en-IN" alt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IN" alt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VISSAMSETTI NAVYA SRI</a:t>
            </a:r>
            <a:br>
              <a:rPr lang="en-IN" alt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br>
              <a:rPr lang="en-US" sz="1300" b="1" kern="0" spc="1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864715" y="7882255"/>
            <a:ext cx="160655" cy="762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12" name="Text Box 11"/>
          <p:cNvSpPr txBox="1"/>
          <p:nvPr/>
        </p:nvSpPr>
        <p:spPr>
          <a:xfrm>
            <a:off x="1222375" y="448246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accent4"/>
                </a:solidFill>
              </a:rPr>
              <a:t>Mentors:</a:t>
            </a:r>
            <a:endParaRPr lang="en-IN" altLang="en-US">
              <a:solidFill>
                <a:schemeClr val="accent4"/>
              </a:solidFill>
            </a:endParaRPr>
          </a:p>
          <a:p>
            <a:r>
              <a:rPr lang="en-IN" altLang="en-US">
                <a:solidFill>
                  <a:schemeClr val="accent4"/>
                </a:solidFill>
              </a:rPr>
              <a:t>J.Lovababu</a:t>
            </a:r>
            <a:endParaRPr lang="en-IN" altLang="en-US">
              <a:solidFill>
                <a:schemeClr val="accent4"/>
              </a:solidFill>
            </a:endParaRPr>
          </a:p>
          <a:p>
            <a:r>
              <a:rPr lang="en-IN" altLang="en-US">
                <a:solidFill>
                  <a:schemeClr val="accent4"/>
                </a:solidFill>
              </a:rPr>
              <a:t>Sumana Bethala</a:t>
            </a:r>
            <a:endParaRPr lang="en-IN" altLang="en-US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657600" cy="3657600"/>
          </a:xfrm>
          <a:prstGeom prst="ellipse">
            <a:avLst/>
          </a:prstGeom>
          <a:ln w="15875">
            <a:solidFill>
              <a:srgbClr val="D4AF3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47120" y="-548640"/>
            <a:ext cx="2377440" cy="2377440"/>
          </a:xfrm>
          <a:prstGeom prst="ellipse">
            <a:avLst/>
          </a:prstGeom>
          <a:ln w="12700">
            <a:solidFill>
              <a:srgbClr val="D4AF37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ln w="15875">
            <a:solidFill>
              <a:srgbClr val="D4AF3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5577840"/>
            <a:ext cx="2011680" cy="2011680"/>
          </a:xfrm>
          <a:prstGeom prst="ellipse">
            <a:avLst/>
          </a:prstGeom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40080"/>
            <a:ext cx="5486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AGENDA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68680" y="1792224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8" name="Text 6"/>
          <p:cNvSpPr/>
          <p:nvPr/>
        </p:nvSpPr>
        <p:spPr>
          <a:xfrm>
            <a:off x="1188720" y="1682496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414016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0" name="Text 8"/>
          <p:cNvSpPr/>
          <p:nvPr/>
        </p:nvSpPr>
        <p:spPr>
          <a:xfrm>
            <a:off x="1188720" y="2304288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 Overview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3035808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2" name="Text 10"/>
          <p:cNvSpPr/>
          <p:nvPr/>
        </p:nvSpPr>
        <p:spPr>
          <a:xfrm>
            <a:off x="1188720" y="29260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3657600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4" name="Text 12"/>
          <p:cNvSpPr/>
          <p:nvPr/>
        </p:nvSpPr>
        <p:spPr>
          <a:xfrm>
            <a:off x="1188720" y="3547872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Services Used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4279392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6" name="Text 14"/>
          <p:cNvSpPr/>
          <p:nvPr/>
        </p:nvSpPr>
        <p:spPr>
          <a:xfrm>
            <a:off x="1188720" y="4169664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4901184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8" name="Text 16"/>
          <p:cNvSpPr/>
          <p:nvPr/>
        </p:nvSpPr>
        <p:spPr>
          <a:xfrm>
            <a:off x="1188720" y="4791456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8680" y="5522976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20" name="Text 18"/>
          <p:cNvSpPr/>
          <p:nvPr/>
        </p:nvSpPr>
        <p:spPr>
          <a:xfrm>
            <a:off x="1188720" y="5413248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CF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8778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773936"/>
            <a:ext cx="438912" cy="438912"/>
          </a:xfrm>
          <a:prstGeom prst="ellipse">
            <a:avLst/>
          </a:prstGeom>
          <a:solidFill>
            <a:srgbClr val="D4AF37"/>
          </a:solidFill>
        </p:spPr>
      </p:sp>
      <p:pic>
        <p:nvPicPr>
          <p:cNvPr id="5" name="Image 0" descr="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899" y="1830995"/>
            <a:ext cx="324795" cy="3247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00200"/>
            <a:ext cx="7726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Manually tracking monthly salary, expenses, and savings is tedious and easy to get wrong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532888"/>
            <a:ext cx="8778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706624"/>
            <a:ext cx="438912" cy="438912"/>
          </a:xfrm>
          <a:prstGeom prst="ellipse">
            <a:avLst/>
          </a:prstGeom>
          <a:solidFill>
            <a:srgbClr val="D4AF37"/>
          </a:solidFill>
        </p:spPr>
      </p:sp>
      <p:pic>
        <p:nvPicPr>
          <p:cNvPr id="9" name="Image 1" descr="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899" y="2763683"/>
            <a:ext cx="324795" cy="3247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532888"/>
            <a:ext cx="7726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forget to log expenses consistently, losing an accurate picture of their spending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3465576"/>
            <a:ext cx="8778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005840" y="3639312"/>
            <a:ext cx="438912" cy="438912"/>
          </a:xfrm>
          <a:prstGeom prst="ellipse">
            <a:avLst/>
          </a:prstGeom>
          <a:solidFill>
            <a:srgbClr val="D4AF37"/>
          </a:solidFill>
        </p:spPr>
      </p:sp>
      <p:pic>
        <p:nvPicPr>
          <p:cNvPr id="13" name="Image 2" descr="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899" y="3696371"/>
            <a:ext cx="324795" cy="3247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465576"/>
            <a:ext cx="7726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simple way to organize expenses into categories such as rent, food, travel, or bills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22960" y="4398264"/>
            <a:ext cx="8778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005840" y="4572000"/>
            <a:ext cx="438912" cy="438912"/>
          </a:xfrm>
          <a:prstGeom prst="ellipse">
            <a:avLst/>
          </a:prstGeom>
          <a:solidFill>
            <a:srgbClr val="D4AF37"/>
          </a:solidFill>
        </p:spPr>
      </p:sp>
      <p:pic>
        <p:nvPicPr>
          <p:cNvPr id="17" name="Image 3" descr="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899" y="4629059"/>
            <a:ext cx="324795" cy="3247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4398264"/>
            <a:ext cx="7726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Reviewing spending only at month end makes it hard to compare planned vs actual savings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691640" y="5330952"/>
            <a:ext cx="7726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23" name="Image 5" descr="wal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774190"/>
            <a:ext cx="1554480" cy="1554480"/>
          </a:xfrm>
          <a:prstGeom prst="rect">
            <a:avLst/>
          </a:prstGeom>
        </p:spPr>
      </p:pic>
      <p:pic>
        <p:nvPicPr>
          <p:cNvPr id="25" name="Image 6" descr="wal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832" y="3728212"/>
            <a:ext cx="1225296" cy="122529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1865376"/>
            <a:ext cx="118872" cy="11887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5" name="Text 3"/>
          <p:cNvSpPr/>
          <p:nvPr/>
        </p:nvSpPr>
        <p:spPr>
          <a:xfrm>
            <a:off x="1417320" y="1709928"/>
            <a:ext cx="969264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web-based smart finance tracker built for individuals to manage their monthly money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143000" y="2505456"/>
            <a:ext cx="118872" cy="11887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1417320" y="2350008"/>
            <a:ext cx="969264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the start of each month, the user records salary, a savings goal, and expense categories (rent, food, travel, bills, etc.)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990088"/>
            <a:ext cx="969264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132840" y="3310001"/>
            <a:ext cx="118872" cy="11887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1" name="Text 9"/>
          <p:cNvSpPr/>
          <p:nvPr/>
        </p:nvSpPr>
        <p:spPr>
          <a:xfrm>
            <a:off x="1417320" y="3182493"/>
            <a:ext cx="969264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month end, </a:t>
            </a:r>
            <a:r>
              <a:rPr lang="en-IN" altLang="en-US" sz="14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can </a:t>
            </a:r>
            <a:r>
              <a:rPr lang="en-US" altLang="en-US" sz="14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Acknowledge</a:t>
            </a:r>
            <a:r>
              <a:rPr lang="en-IN" altLang="en-US" sz="14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r>
              <a:rPr lang="en-US" sz="14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planned vs actual expenses and savings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132840" y="4114546"/>
            <a:ext cx="118872" cy="11887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3" name="Text 11"/>
          <p:cNvSpPr/>
          <p:nvPr/>
        </p:nvSpPr>
        <p:spPr>
          <a:xfrm>
            <a:off x="1417320" y="4014978"/>
            <a:ext cx="969264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backend is fully serverless: API Gateway exposes REST endpoints that trigger AWS Lambda functions for all business logic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143000" y="4919091"/>
            <a:ext cx="118872" cy="11887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5" name="Text 13"/>
          <p:cNvSpPr/>
          <p:nvPr/>
        </p:nvSpPr>
        <p:spPr>
          <a:xfrm>
            <a:off x="1417320" y="4782693"/>
            <a:ext cx="969264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are stored per user, per month, per category in AWS DynamoDB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17320" y="5550408"/>
            <a:ext cx="969264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wall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2165833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764792"/>
            <a:ext cx="3794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Salary &amp; Savings Goal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965960" y="2148840"/>
            <a:ext cx="37947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monthly salary and a savings target at the start of each month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t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588" y="2192503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764792"/>
            <a:ext cx="3794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Categorized Expenses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406640" y="2148840"/>
            <a:ext cx="37947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spending under custom categories like rent, food, travel, bills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21050" y="324612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r>
              <a:rPr lang="en-US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Update Anytime</a:t>
            </a:r>
            <a:endParaRPr lang="en-US" dirty="0"/>
          </a:p>
          <a:p>
            <a:endParaRPr lang="en-US"/>
          </a:p>
        </p:txBody>
      </p:sp>
      <p:pic>
        <p:nvPicPr>
          <p:cNvPr id="15" name="Image 2" descr="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678" y="3729838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3456432"/>
            <a:ext cx="3794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328160" y="3783330"/>
            <a:ext cx="37947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or add entries throughout the month as expenses occur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22960" y="498348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58" y="5371948"/>
            <a:ext cx="541325" cy="5413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965960" y="5148072"/>
            <a:ext cx="3794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Access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965960" y="5532120"/>
            <a:ext cx="37947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IAM roles and policies protect every user's financial data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263640" y="498348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0" name="Image 5" descr="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228" y="5513553"/>
            <a:ext cx="541325" cy="54132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06640" y="5148072"/>
            <a:ext cx="3794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Serverless &amp; Scalable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7406640" y="5532120"/>
            <a:ext cx="37947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Gateway + Lambda + DynamoDB scale automatically with usage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AWS SERVICES USED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1600200"/>
          <a:ext cx="10515600" cy="4206240"/>
        </p:xfrm>
        <a:graphic>
          <a:graphicData uri="http://schemas.openxmlformats.org/drawingml/2006/table">
            <a:tbl>
              <a:tblPr/>
              <a:tblGrid>
                <a:gridCol w="2560320"/>
                <a:gridCol w="7955280"/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AWS Service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3D2E"/>
                          </a:solidFill>
                        </a:rPr>
                        <a:t>S3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</a:rPr>
                        <a:t>Stores exported monthly reports and statements</a:t>
                      </a:r>
                      <a:endParaRPr lang="en-US" sz="1350" dirty="0"/>
                    </a:p>
                  </a:txBody>
                  <a:tcPr anchor="ctr">
                    <a:lnL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3D2E"/>
                          </a:solidFill>
                        </a:rPr>
                        <a:t>API Gateway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</a:rPr>
                        <a:t>Exposes secure REST APIs for the frontend to call</a:t>
                      </a:r>
                      <a:endParaRPr lang="en-US" sz="1350" dirty="0"/>
                    </a:p>
                  </a:txBody>
                  <a:tcPr anchor="ctr">
                    <a:lnL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3D2E"/>
                          </a:solidFill>
                        </a:rPr>
                        <a:t>Lambda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</a:rPr>
                        <a:t>Handles logic: add salary, log expense, generate month-end summary</a:t>
                      </a:r>
                      <a:endParaRPr lang="en-US" sz="1350" dirty="0"/>
                    </a:p>
                  </a:txBody>
                  <a:tcPr anchor="ctr">
                    <a:lnL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3D2E"/>
                          </a:solidFill>
                        </a:rPr>
                        <a:t>DynamoDB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</a:rPr>
                        <a:t>Stores salary, expense, and savings records (NoSQL)</a:t>
                      </a:r>
                      <a:endParaRPr lang="en-US" sz="1350" dirty="0"/>
                    </a:p>
                  </a:txBody>
                  <a:tcPr anchor="ctr">
                    <a:lnL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3D2E"/>
                          </a:solidFill>
                        </a:rPr>
                        <a:t>IAM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</a:rPr>
                        <a:t>Manages roles and permissions for secure access between services</a:t>
                      </a:r>
                      <a:endParaRPr lang="en-US" sz="1350" dirty="0"/>
                    </a:p>
                  </a:txBody>
                  <a:tcPr anchor="ctr">
                    <a:lnL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06240" y="141732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DF3EE"/>
          </a:solidFill>
          <a:ln w="19050">
            <a:solidFill>
              <a:srgbClr val="0F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0" y="1417320"/>
            <a:ext cx="2743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Web App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577840" y="2075688"/>
            <a:ext cx="0" cy="256032"/>
          </a:xfrm>
          <a:prstGeom prst="line">
            <a:avLst/>
          </a:prstGeom>
          <a:noFill/>
          <a:ln w="25400">
            <a:solidFill>
              <a:srgbClr val="0F3D2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06240" y="233172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DF3EE"/>
          </a:solidFill>
          <a:ln w="19050">
            <a:solidFill>
              <a:srgbClr val="0F3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2331720"/>
            <a:ext cx="2743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Gateway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577840" y="2990088"/>
            <a:ext cx="0" cy="256032"/>
          </a:xfrm>
          <a:prstGeom prst="line">
            <a:avLst/>
          </a:prstGeom>
          <a:noFill/>
          <a:ln w="25400">
            <a:solidFill>
              <a:srgbClr val="0F3D2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06240" y="324612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DF3EE"/>
          </a:solidFill>
          <a:ln w="19050">
            <a:solidFill>
              <a:srgbClr val="0F3D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3246120"/>
            <a:ext cx="2743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Lambda Function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(business logic)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577840" y="3904488"/>
            <a:ext cx="0" cy="228600"/>
          </a:xfrm>
          <a:prstGeom prst="line">
            <a:avLst/>
          </a:prstGeom>
          <a:noFill/>
          <a:ln w="25400">
            <a:solidFill>
              <a:srgbClr val="0F3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4133088"/>
            <a:ext cx="2743200" cy="0"/>
          </a:xfrm>
          <a:prstGeom prst="line">
            <a:avLst/>
          </a:prstGeom>
          <a:noFill/>
          <a:ln w="25400">
            <a:solidFill>
              <a:srgbClr val="0F3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4133088"/>
            <a:ext cx="0" cy="320040"/>
          </a:xfrm>
          <a:prstGeom prst="line">
            <a:avLst/>
          </a:prstGeom>
          <a:noFill/>
          <a:ln w="25400">
            <a:solidFill>
              <a:srgbClr val="0F3D2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4133088"/>
            <a:ext cx="0" cy="320040"/>
          </a:xfrm>
          <a:prstGeom prst="line">
            <a:avLst/>
          </a:prstGeom>
          <a:noFill/>
          <a:ln w="25400">
            <a:solidFill>
              <a:srgbClr val="0F3D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34640" y="434340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DF3EE"/>
          </a:solidFill>
          <a:ln w="19050">
            <a:solidFill>
              <a:srgbClr val="0F3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4343400"/>
            <a:ext cx="2743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DynamoDB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(expense &amp; savings data)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577840" y="434340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DF3EE"/>
          </a:solidFill>
          <a:ln w="19050">
            <a:solidFill>
              <a:srgbClr val="0F3D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4343400"/>
            <a:ext cx="2743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F3D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(monthly reports)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509760" y="23317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BF3DC"/>
          </a:solidFill>
          <a:ln w="19050">
            <a:solidFill>
              <a:srgbClr val="D4AF37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509760" y="2331720"/>
            <a:ext cx="21031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A6D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8A6D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control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8A6D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permissions across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8A6D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services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95160" y="3575304"/>
            <a:ext cx="25146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dash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WORK</a:t>
            </a:r>
            <a:endParaRPr lang="en-US" sz="3000" dirty="0"/>
          </a:p>
        </p:txBody>
      </p:sp>
      <p:pic>
        <p:nvPicPr>
          <p:cNvPr id="4" name="Image 0" descr="mob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761" y="1765341"/>
            <a:ext cx="419527" cy="4195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91640" y="1709928"/>
            <a:ext cx="87782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20240" y="1709928"/>
            <a:ext cx="8366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 integration for on-the-go tracking</a:t>
            </a:r>
            <a:endParaRPr lang="en-US" sz="1450" dirty="0"/>
          </a:p>
        </p:txBody>
      </p:sp>
      <p:pic>
        <p:nvPicPr>
          <p:cNvPr id="8" name="Image 1" descr="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01" y="2469429"/>
            <a:ext cx="419527" cy="41952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2551176"/>
            <a:ext cx="87782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920240" y="2551176"/>
            <a:ext cx="8366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 notifications reminding users to log expenses</a:t>
            </a:r>
            <a:endParaRPr lang="en-US" sz="1450" dirty="0"/>
          </a:p>
        </p:txBody>
      </p:sp>
      <p:pic>
        <p:nvPicPr>
          <p:cNvPr id="12" name="Image 2" descr="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41" y="3277022"/>
            <a:ext cx="419527" cy="41952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691640" y="3392424"/>
            <a:ext cx="87782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920240" y="3392424"/>
            <a:ext cx="8366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analytics and charts for spending trends</a:t>
            </a:r>
            <a:endParaRPr lang="en-US" sz="1450" dirty="0"/>
          </a:p>
        </p:txBody>
      </p:sp>
      <p:pic>
        <p:nvPicPr>
          <p:cNvPr id="16" name="Image 3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101" y="4084615"/>
            <a:ext cx="419527" cy="419527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691640" y="4178427"/>
            <a:ext cx="87782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920240" y="4309110"/>
            <a:ext cx="8366760" cy="530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50" dirty="0"/>
              <a:t>This will provide a clear comparison between the amount shared this month and the amount planned for next month.</a:t>
            </a:r>
            <a:endParaRPr lang="en-US" altLang="en-US" sz="1450" dirty="0"/>
          </a:p>
          <a:p>
            <a:pPr marL="0" indent="0">
              <a:buNone/>
            </a:pPr>
            <a:endParaRPr lang="en-US" altLang="en-US" sz="1450" dirty="0"/>
          </a:p>
        </p:txBody>
      </p:sp>
      <p:pic>
        <p:nvPicPr>
          <p:cNvPr id="20" name="Image 4" descr="ba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61" y="5075088"/>
            <a:ext cx="419527" cy="419527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691640" y="5074920"/>
            <a:ext cx="87782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920240" y="5224780"/>
            <a:ext cx="8366760" cy="530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50" dirty="0"/>
              <a:t> Tracks monthly income, expenses, savings, and spending categories to help users plan better for the next month.</a:t>
            </a:r>
            <a:endParaRPr lang="en-US" altLang="en-US" sz="1450" dirty="0"/>
          </a:p>
          <a:p>
            <a:pPr marL="0" indent="0">
              <a:buNone/>
            </a:pPr>
            <a:endParaRPr lang="en-US" alt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657600" cy="3657600"/>
          </a:xfrm>
          <a:prstGeom prst="ellipse">
            <a:avLst/>
          </a:prstGeom>
          <a:ln w="15875">
            <a:solidFill>
              <a:srgbClr val="D4AF3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47120" y="-548640"/>
            <a:ext cx="2377440" cy="2377440"/>
          </a:xfrm>
          <a:prstGeom prst="ellipse">
            <a:avLst/>
          </a:prstGeom>
          <a:ln w="12700">
            <a:solidFill>
              <a:srgbClr val="D4AF37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ln w="15875">
            <a:solidFill>
              <a:srgbClr val="D4AF3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5577840"/>
            <a:ext cx="2011680" cy="2011680"/>
          </a:xfrm>
          <a:prstGeom prst="ellipse">
            <a:avLst/>
          </a:prstGeom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400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68680" y="1984248"/>
            <a:ext cx="164592" cy="16459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8" name="Text 6"/>
          <p:cNvSpPr/>
          <p:nvPr/>
        </p:nvSpPr>
        <p:spPr>
          <a:xfrm>
            <a:off x="1234440" y="1874520"/>
            <a:ext cx="96926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simple, automated solution for tracking personal salary, expenses, and savings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68680" y="2761488"/>
            <a:ext cx="164592" cy="16459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0" name="Text 8"/>
          <p:cNvSpPr/>
          <p:nvPr/>
        </p:nvSpPr>
        <p:spPr>
          <a:xfrm>
            <a:off x="1234440" y="2651760"/>
            <a:ext cx="96926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Removes the manual errors and effort of spreadsheet-based budgeting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68680" y="3538728"/>
            <a:ext cx="164592" cy="16459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2" name="Text 10"/>
          <p:cNvSpPr/>
          <p:nvPr/>
        </p:nvSpPr>
        <p:spPr>
          <a:xfrm>
            <a:off x="1234440" y="3429000"/>
            <a:ext cx="96926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on a scalable, serverless AWS architecture (API Gateway, Lambda, DynamoDB, S3, IAM)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68680" y="4315968"/>
            <a:ext cx="164592" cy="16459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4" name="Text 12"/>
          <p:cNvSpPr/>
          <p:nvPr/>
        </p:nvSpPr>
        <p:spPr>
          <a:xfrm>
            <a:off x="1234440" y="4206240"/>
            <a:ext cx="96926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Gives users clear monthly insight into where their money goes, helping build better saving habits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CF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657600" cy="3657600"/>
          </a:xfrm>
          <a:prstGeom prst="ellipse">
            <a:avLst/>
          </a:prstGeom>
          <a:ln w="15875">
            <a:solidFill>
              <a:srgbClr val="D4AF3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47120" y="-548640"/>
            <a:ext cx="2377440" cy="2377440"/>
          </a:xfrm>
          <a:prstGeom prst="ellipse">
            <a:avLst/>
          </a:prstGeom>
          <a:ln w="12700">
            <a:solidFill>
              <a:srgbClr val="D4AF37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ln w="15875">
            <a:solidFill>
              <a:srgbClr val="D4AF3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5577840"/>
            <a:ext cx="2011680" cy="2011680"/>
          </a:xfrm>
          <a:prstGeom prst="ellipse">
            <a:avLst/>
          </a:prstGeom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246120"/>
            <a:ext cx="30175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2879</Words>
  <Application>WPS Presentation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Neha Latha</cp:lastModifiedBy>
  <cp:revision>10</cp:revision>
  <dcterms:created xsi:type="dcterms:W3CDTF">2026-07-10T13:30:00Z</dcterms:created>
  <dcterms:modified xsi:type="dcterms:W3CDTF">2026-07-15T12:29:16Z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3EB406A4FD1740D0820F0EA2B9C53C0F_12</vt:lpwstr>
  </property>
</Properties>
</file>